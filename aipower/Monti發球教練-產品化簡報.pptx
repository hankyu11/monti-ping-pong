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66f4a3dd-2d85-f226-97a1-a5e9c7e76406}">
          <p14:sldIdLst>
            <p14:sldId id="256"/>
          </p14:sldIdLst>
        </p14:section>
        <p14:section name="問題" id="{27bf23c7-5895-6d64-d73b-f9e8f2360076}">
          <p14:sldIdLst>
            <p14:sldId id="257"/>
            <p14:sldId id="258"/>
            <p14:sldId id="259"/>
          </p14:sldIdLst>
        </p14:section>
        <p14:section name="現有成果" id="{8c26bc23-daa7-0cb4-adf7-7fac86e79002}">
          <p14:sldIdLst>
            <p14:sldId id="260"/>
            <p14:sldId id="261"/>
            <p14:sldId id="262"/>
            <p14:sldId id="263"/>
          </p14:sldIdLst>
        </p14:section>
        <p14:section name="本案要做的事" id="{a8e4fb81-684a-3540-0f11-0d4de48197c1}">
          <p14:sldIdLst>
            <p14:sldId id="264"/>
            <p14:sldId id="265"/>
            <p14:sldId id="266"/>
          </p14:sldIdLst>
        </p14:section>
        <p14:section name="市場與產品化" id="{83f2e1d0-0def-9a72-fe08-8c415f7182ac}">
          <p14:sldIdLst>
            <p14:sldId id="267"/>
            <p14:sldId id="268"/>
            <p14:sldId id="269"/>
          </p14:sldIdLst>
        </p14:section>
        <p14:section name="結語" id="{9732b4e9-d21a-846e-73a4-dd3069d87f83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本系統量測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C3E4A"/>
                    </a:solidFill>
                    <a:latin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35.7</c:v>
                </c:pt>
                <c:pt idx="1">
                  <c:v>31.7</c:v>
                </c:pt>
                <c:pt idx="2">
                  <c:v>17.2</c:v>
                </c:pt>
                <c:pt idx="3">
                  <c:v>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人工逐格計數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C3E4A"/>
                    </a:solidFill>
                    <a:latin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37</c:v>
                </c:pt>
                <c:pt idx="1">
                  <c:v>33</c:v>
                </c:pt>
                <c:pt idx="2">
                  <c:v>17</c:v>
                </c:pt>
                <c:pt idx="3">
                  <c:v>36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2C3E4A"/>
                  </a:solidFill>
                  <a:latin typeface="+mn-l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majorGridlines>
          <c:spPr>
            <a:ln w="12700" cap="flat">
              <a:solidFill>
                <a:srgbClr val="E6EC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6B78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A6B78"/>
                    </a:solidFill>
                    <a:latin typeface="+mn-lt"/>
                  </a:rPr>
                  <a:t>每秒轉數 (rev/s)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A6B7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本簡報為算力平台使用申請（模型推論類）加分項目之產品化介紹資料。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914400" y="1600200"/>
            <a:ext cx="1033272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FF6B35"/>
                </a:solidFill>
              </a:defRPr>
            </a:lvl1pPr>
          </a:lstStyle>
          <a:p>
            <a:pPr algn="l" indent="0" marL="0">
              <a:buNone/>
            </a:pPr>
            <a:r>
              <a:rPr lang="en-US" sz="1500" b="1" dirty="0">
                <a:solidFill>
                  <a:srgbClr val="FF6B35"/>
                </a:solidFill>
              </a:rPr>
              <a:t> </a:t>
            </a:r>
            <a:endParaRPr lang="en-US" sz="15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914400" y="2057400"/>
            <a:ext cx="10332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 </a:t>
            </a:r>
            <a:endParaRPr lang="en-US" sz="48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914400" y="3840480"/>
            <a:ext cx="95097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8FB8CA"/>
                </a:solidFill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8FB8CA"/>
                </a:solidFill>
              </a:rPr>
              <a:t> </a:t>
            </a:r>
            <a:endParaRPr lang="en-US" sz="17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8FB8CA"/>
                </a:solidFill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8FB8CA"/>
                </a:solidFill>
              </a:rPr>
              <a:t> 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914400" y="2743200"/>
            <a:ext cx="10332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rgbClr val="FF6B35"/>
                </a:solidFill>
              </a:defRPr>
            </a:lvl1pPr>
          </a:lstStyle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</a:rPr>
              <a:t> </a:t>
            </a:r>
            <a:endParaRPr lang="en-US" sz="14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914400" y="3154680"/>
            <a:ext cx="10332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 </a:t>
            </a: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 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5A6B78"/>
                </a:solidFill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5A6B78"/>
                </a:solidFill>
              </a:rPr>
              <a:t> </a:t>
            </a:r>
            <a:endParaRPr lang="en-US" sz="1400" dirty="0"/>
          </a:p>
        </p:txBody>
      </p:sp>
      <p:sp>
        <p:nvSpPr>
          <p:cNvPr id="4" name="Text 0"/>
          <p:cNvSpPr/>
          <p:nvPr/>
        </p:nvSpPr>
        <p:spPr>
          <a:xfrm>
            <a:off x="502920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96"/>
                </a:solidFill>
              </a:rPr>
              <a:t>奇斯科技有限公司　Monti 發球教練　115.10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 </a:t>
            </a:r>
            <a:endParaRPr lang="en-US" sz="3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8FB8CA"/>
                </a:solidFill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8FB8CA"/>
                </a:solidFill>
              </a:rPr>
              <a:t> 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502920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B8CA"/>
                </a:solidFill>
              </a:rPr>
              <a:t>奇斯科技有限公司　Monti 發球教練　115.10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B8C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 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5A6B78"/>
                </a:solidFill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5A6B78"/>
                </a:solidFill>
              </a:rPr>
              <a:t> </a:t>
            </a:r>
            <a:endParaRPr lang="en-US" sz="1400" dirty="0"/>
          </a:p>
        </p:txBody>
      </p:sp>
      <p:sp>
        <p:nvSpPr>
          <p:cNvPr id="4" name="Text 0"/>
          <p:cNvSpPr/>
          <p:nvPr>
            <p:ph idx="102" type="chart" hasCustomPrompt="1"/>
          </p:nvPr>
        </p:nvSpPr>
        <p:spPr>
          <a:xfrm>
            <a:off x="502920" y="1783080"/>
            <a:ext cx="6949440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chemeClr val="tx1"/>
                </a:solidFill>
              </a:rPr>
              <a:t> </a:t>
            </a:r>
            <a:endParaRPr lang="en-US" dirty="0"/>
          </a:p>
        </p:txBody>
      </p:sp>
      <p:sp>
        <p:nvSpPr>
          <p:cNvPr id="5" name="Text 0"/>
          <p:cNvSpPr/>
          <p:nvPr/>
        </p:nvSpPr>
        <p:spPr>
          <a:xfrm>
            <a:off x="502920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96"/>
                </a:solidFill>
              </a:rPr>
              <a:t>奇斯科技有限公司　Monti 發球教練　115.10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14400" y="1600200"/>
            <a:ext cx="10332720" cy="411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6B35"/>
                </a:solidFill>
              </a:rPr>
              <a:t>模型推論類　算力平台使用申請　產品化介紹</a:t>
            </a:r>
            <a:endParaRPr lang="en-US" sz="15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914400" y="2057400"/>
            <a:ext cx="10332720" cy="17373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Monti 發球教練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79476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FE3EE"/>
                </a:solidFill>
              </a:rPr>
              <a:t>以國產大語言模型與影像模型打造的桌球發球即時 AI 指導服務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3434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6B35"/>
                </a:solidFill>
              </a:rPr>
              <a:t>一支手機，讓每一球都有回饋</a:t>
            </a:r>
            <a:endParaRPr lang="en-US" sz="15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100" dirty="0">
                <a:solidFill>
                  <a:srgbClr val="8FB8CA"/>
                </a:solidFill>
              </a:rPr>
              <a:t>奇斯科技有限公司　統一編號 62071057　民國 115 年 10 月</a:t>
            </a:r>
            <a:endParaRPr lang="en-US" sz="1100" dirty="0"/>
          </a:p>
        </p:txBody>
      </p:sp>
      <p:sp>
        <p:nvSpPr>
          <p:cNvPr id="7" name="ball1"/>
          <p:cNvSpPr/>
          <p:nvPr/>
        </p:nvSpPr>
        <p:spPr>
          <a:xfrm>
            <a:off x="10195560" y="1234440"/>
            <a:ext cx="566928" cy="56692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ball2"/>
          <p:cNvSpPr/>
          <p:nvPr/>
        </p:nvSpPr>
        <p:spPr>
          <a:xfrm>
            <a:off x="9710928" y="1993392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ball3"/>
          <p:cNvSpPr/>
          <p:nvPr/>
        </p:nvSpPr>
        <p:spPr>
          <a:xfrm>
            <a:off x="10927080" y="2212848"/>
            <a:ext cx="146304" cy="146304"/>
          </a:xfrm>
          <a:prstGeom prst="ellipse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1" name="Text 1"/>
          <p:cNvSpPr/>
          <p:nvPr>
            <p:ph idx="103" type="body" hasCustomPrompt="1"/>
          </p:nvPr>
        </p:nvSpPr>
        <p:spPr>
          <a:xfrm>
            <a:off x="914400" y="3840480"/>
            <a:ext cx="950976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發球的好壞，肉眼看不見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5A6B78"/>
                </a:solidFill>
              </a:rPr>
              <a:t>初學者最常說的一句話是：我知道這球不好，但我不知道哪裡不好</a:t>
            </a:r>
            <a:endParaRPr lang="en-US" sz="1400" dirty="0"/>
          </a:p>
        </p:txBody>
      </p:sp>
      <p:sp>
        <p:nvSpPr>
          <p:cNvPr id="4" name="p1card0"/>
          <p:cNvSpPr/>
          <p:nvPr/>
        </p:nvSpPr>
        <p:spPr>
          <a:xfrm>
            <a:off x="502920" y="1874520"/>
            <a:ext cx="3520440" cy="2240280"/>
          </a:xfrm>
          <a:prstGeom prst="roundRect">
            <a:avLst>
              <a:gd name="adj" fmla="val 3673"/>
            </a:avLst>
          </a:prstGeom>
          <a:solidFill>
            <a:schemeClr val="bg2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C7293"/>
                </a:solidFill>
              </a:rPr>
              <a:t>40 mm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8152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B78"/>
                </a:solidFill>
              </a:rPr>
              <a:t>桌球直徑。球體太小，旋轉的方向與強弱無法用眼睛辨認</a:t>
            </a:r>
            <a:endParaRPr lang="en-US" sz="1300" dirty="0"/>
          </a:p>
        </p:txBody>
      </p:sp>
      <p:sp>
        <p:nvSpPr>
          <p:cNvPr id="7" name="p1card1"/>
          <p:cNvSpPr/>
          <p:nvPr/>
        </p:nvSpPr>
        <p:spPr>
          <a:xfrm>
            <a:off x="4343400" y="1874520"/>
            <a:ext cx="3520440" cy="2240280"/>
          </a:xfrm>
          <a:prstGeom prst="roundRect">
            <a:avLst>
              <a:gd name="adj" fmla="val 3673"/>
            </a:avLst>
          </a:prstGeom>
          <a:solidFill>
            <a:schemeClr val="bg2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21488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6B35"/>
                </a:solidFill>
              </a:rPr>
              <a:t>3,800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308152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B78"/>
                </a:solidFill>
              </a:rPr>
              <a:t>發球旋轉可達每分鐘轉數。人眼與一般手機 30 fps 錄影都看不見</a:t>
            </a:r>
            <a:endParaRPr lang="en-US" sz="1300" dirty="0"/>
          </a:p>
        </p:txBody>
      </p:sp>
      <p:sp>
        <p:nvSpPr>
          <p:cNvPr id="10" name="p1card2"/>
          <p:cNvSpPr/>
          <p:nvPr/>
        </p:nvSpPr>
        <p:spPr>
          <a:xfrm>
            <a:off x="8183880" y="1874520"/>
            <a:ext cx="3520440" cy="2240280"/>
          </a:xfrm>
          <a:prstGeom prst="roundRect">
            <a:avLst>
              <a:gd name="adj" fmla="val 3673"/>
            </a:avLst>
          </a:prstGeom>
          <a:solidFill>
            <a:schemeClr val="bg2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03920" y="21488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3315C"/>
                </a:solidFill>
              </a:rPr>
              <a:t>&lt; 5 球</a:t>
            </a:r>
            <a:endParaRPr lang="en-US" sz="5200" dirty="0"/>
          </a:p>
        </p:txBody>
      </p:sp>
      <p:sp>
        <p:nvSpPr>
          <p:cNvPr id="12" name="Text 10"/>
          <p:cNvSpPr txBox="1"/>
          <p:nvPr/>
        </p:nvSpPr>
        <p:spPr>
          <a:xfrm>
            <a:off x="8503920" y="308152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B78"/>
                </a:solidFill>
              </a:rPr>
              <a:t>一堂課中，一位學員真正被教練看到並得到回饋的發球數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44348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15C"/>
                </a:solidFill>
              </a:rPr>
              <a:t>發球是桌球唯一完全由自己掌控的技術，卻也是回饋品質最差的一項。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基層教學的師生比，讓「每一球都有回饋」在結構上不可能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5A6B78"/>
                </a:solidFill>
              </a:rPr>
              <a:t>這不是教練不盡責，而是人力的物理上限</a:t>
            </a:r>
            <a:endParaRPr lang="en-US" sz="1400" dirty="0"/>
          </a:p>
        </p:txBody>
      </p:sp>
      <p:sp>
        <p:nvSpPr>
          <p:cNvPr id="4" name="now"/>
          <p:cNvSpPr/>
          <p:nvPr/>
        </p:nvSpPr>
        <p:spPr>
          <a:xfrm>
            <a:off x="502920" y="1874520"/>
            <a:ext cx="5486400" cy="329184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03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5C"/>
                </a:solidFill>
              </a:rPr>
              <a:t>現況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0604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C3E4A"/>
                </a:solidFill>
              </a:rPr>
              <a:t>一位教練帶 20～30 名學員，一堂課兩小時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C3E4A"/>
                </a:solidFill>
              </a:rPr>
              <a:t>平均分配到每位學員不到 4 分鐘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C3E4A"/>
                </a:solidFill>
              </a:rPr>
              <a:t>學員一堂課發 50～100 球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C3E4A"/>
                </a:solidFill>
              </a:rPr>
              <a:t>超過 90% 的練習沒有任何回饋</a:t>
            </a:r>
            <a:endParaRPr lang="en-US" sz="1500" dirty="0"/>
          </a:p>
        </p:txBody>
      </p:sp>
      <p:sp>
        <p:nvSpPr>
          <p:cNvPr id="7" name="after"/>
          <p:cNvSpPr/>
          <p:nvPr/>
        </p:nvSpPr>
        <p:spPr>
          <a:xfrm>
            <a:off x="6355080" y="1874520"/>
            <a:ext cx="5303520" cy="3291840"/>
          </a:xfrm>
          <a:prstGeom prst="roundRect">
            <a:avLst>
              <a:gd name="adj" fmla="val 250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2084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35"/>
                </a:solidFill>
              </a:rPr>
              <a:t>導入後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720840" y="260604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D8E6EE"/>
                </a:solidFill>
              </a:rPr>
              <a:t>每一球都量測、都回饋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D8E6EE"/>
                </a:solidFill>
              </a:rPr>
              <a:t>撿球的 2～3 秒內用中文念出一句提示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D8E6EE"/>
                </a:solidFill>
              </a:rPr>
              <a:t>一堂課 50～100 球全覆蓋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D8E6EE"/>
                </a:solidFill>
              </a:rPr>
              <a:t>教練從逐球糾正，轉為看全班弱項分布做決策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3949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8"/>
                </a:solidFill>
              </a:rPr>
              <a:t>沒有回饋的重複不會帶來進步，只會把錯誤動作練得更牢固。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現有技術方案不適用於台灣基層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5A6B78"/>
                </a:solidFill>
              </a:rPr>
              <a:t>國際上唯一的同類產品，對台灣的國中小校隊卡在四道關卡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111556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80560"/>
                <a:gridCol w="44805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Spinsight（德國 ESN，2025）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</a:rPr>
                        <a:t>Monti 發球教練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4A"/>
                          </a:solidFill>
                        </a:rPr>
                        <a:t>器材門檻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4A"/>
                          </a:solidFill>
                        </a:rPr>
                        <a:t>需專用標記球、iPhone 13 以上、網柱支架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4A"/>
                          </a:solidFill>
                        </a:rPr>
                        <a:t>一般白球／橘球，任何支援慢動作的手機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4A"/>
                          </a:solidFill>
                        </a:rPr>
                        <a:t>語言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4A"/>
                          </a:solidFill>
                        </a:rPr>
                        <a:t>無中文介面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4A"/>
                          </a:solidFill>
                        </a:rPr>
                        <a:t>繁體中文語音，台灣球館慣用術語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4A"/>
                          </a:solidFill>
                        </a:rPr>
                        <a:t>回饋內容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4A"/>
                          </a:solidFill>
                        </a:rPr>
                        <a:t>僅回報數值，不提供教學處方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4A"/>
                          </a:solidFill>
                        </a:rPr>
                        <a:t>指出原因並給下一步練習處方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4A"/>
                          </a:solidFill>
                        </a:rPr>
                        <a:t>資料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4A"/>
                          </a:solidFill>
                        </a:rPr>
                        <a:t>影像送至其海外雲端處理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4A"/>
                          </a:solidFill>
                        </a:rPr>
                        <a:t>全程留在國內算力平台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4A"/>
                          </a:solidFill>
                        </a:rPr>
                        <a:t>價格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4A"/>
                          </a:solidFill>
                        </a:rPr>
                        <a:t>月費約 10 歐元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4A"/>
                          </a:solidFill>
                        </a:rPr>
                        <a:t>免費版＋月費 NT$149 起；學校公益免費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50749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</a:rPr>
              <a:t>台灣目前沒有任何本土方案。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14400" y="2743200"/>
            <a:ext cx="1033272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</a:rPr>
              <a:t>現有成果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914400" y="3154680"/>
            <a:ext cx="1033272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我們不是從零開始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3434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9D3E0"/>
                </a:solidFill>
              </a:rPr>
              <a:t>核心演算法已完成並通過實測驗證，程式碼公開於 GitHub</a:t>
            </a:r>
            <a:endParaRPr lang="en-US" sz="1700" dirty="0"/>
          </a:p>
        </p:txBody>
      </p:sp>
      <p:sp>
        <p:nvSpPr>
          <p:cNvPr id="5" name="ball4"/>
          <p:cNvSpPr/>
          <p:nvPr/>
        </p:nvSpPr>
        <p:spPr>
          <a:xfrm>
            <a:off x="10332720" y="233172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ball5"/>
          <p:cNvSpPr/>
          <p:nvPr/>
        </p:nvSpPr>
        <p:spPr>
          <a:xfrm>
            <a:off x="9921240" y="3017520"/>
            <a:ext cx="182880" cy="182880"/>
          </a:xfrm>
          <a:prstGeom prst="ellipse">
            <a:avLst/>
          </a:prstGeom>
          <a:solidFill>
            <a:srgbClr val="8FB8CA"/>
          </a:solidFill>
          <a:ln w="12700">
            <a:solidFill>
              <a:srgbClr val="8FB8CA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技術實證一：旋轉量測與人工計數一致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5A6B78"/>
                </a:solidFill>
              </a:rPr>
              <a:t>Pixel 8，240 fps 慢動作，側面拍攝，四次真實發球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>
            <p:ph idx="102" type="chart" hasCustomPrompt="1"/>
          </p:nvPr>
        </p:nvGraphicFramePr>
        <p:xfrm>
          <a:off x="502920" y="178308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notes6"/>
          <p:cNvSpPr/>
          <p:nvPr/>
        </p:nvSpPr>
        <p:spPr>
          <a:xfrm>
            <a:off x="7772400" y="1783080"/>
            <a:ext cx="3886200" cy="4206240"/>
          </a:xfrm>
          <a:prstGeom prst="roundRect">
            <a:avLst>
              <a:gd name="adj" fmla="val 2118"/>
            </a:avLst>
          </a:prstGeom>
          <a:solidFill>
            <a:schemeClr val="bg2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92440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5C"/>
                </a:solidFill>
              </a:rPr>
              <a:t>量測結果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542032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C3E4A"/>
                </a:solidFill>
              </a:rPr>
              <a:t>四球全部與人工逐格計數相符，誤差在 5% 以內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C3E4A"/>
                </a:solidFill>
              </a:rPr>
              <a:t>手機端與電腦端讀數差 ≤ 0.1 rev/s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C3E4A"/>
                </a:solidFill>
              </a:rPr>
              <a:t>模擬測試：±2 rev/s、旋轉軸 ±8°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C3E4A"/>
                </a:solidFill>
              </a:rPr>
              <a:t>量測範圍涵蓋選手發球的 14～63 rev/s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技術實證二：能分辨「發球」與「不是發球」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5A6B78"/>
                </a:solidFill>
              </a:rPr>
              <a:t>端側姿態模型加上軌跡規則，把撿球、走動、拋球排除在外</a:t>
            </a:r>
            <a:endParaRPr lang="en-US" sz="1400" dirty="0"/>
          </a:p>
        </p:txBody>
      </p:sp>
      <p:sp>
        <p:nvSpPr>
          <p:cNvPr id="4" name="p7c0"/>
          <p:cNvSpPr/>
          <p:nvPr/>
        </p:nvSpPr>
        <p:spPr>
          <a:xfrm>
            <a:off x="502920" y="1874520"/>
            <a:ext cx="3520440" cy="2240280"/>
          </a:xfrm>
          <a:prstGeom prst="roundRect">
            <a:avLst>
              <a:gd name="adj" fmla="val 3673"/>
            </a:avLst>
          </a:prstGeom>
          <a:solidFill>
            <a:schemeClr val="bg2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C7293"/>
                </a:solidFill>
              </a:rPr>
              <a:t>31 / 31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3580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B78"/>
                </a:solidFill>
              </a:rPr>
              <a:t>已標註的真實發球全數偵測成功，且裁切範圍與讀數不變</a:t>
            </a:r>
            <a:endParaRPr lang="en-US" sz="1300" dirty="0"/>
          </a:p>
        </p:txBody>
      </p:sp>
      <p:sp>
        <p:nvSpPr>
          <p:cNvPr id="7" name="p7c1"/>
          <p:cNvSpPr/>
          <p:nvPr/>
        </p:nvSpPr>
        <p:spPr>
          <a:xfrm>
            <a:off x="4343400" y="1874520"/>
            <a:ext cx="3520440" cy="2240280"/>
          </a:xfrm>
          <a:prstGeom prst="roundRect">
            <a:avLst>
              <a:gd name="adj" fmla="val 3673"/>
            </a:avLst>
          </a:prstGeom>
          <a:solidFill>
            <a:schemeClr val="bg2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21031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6B35"/>
                </a:solidFill>
              </a:rPr>
              <a:t>0.04–0.68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303580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B78"/>
                </a:solidFill>
              </a:rPr>
              <a:t>發球時的身體位移指標；走動為 1.37–3.32，兩者完全分離</a:t>
            </a:r>
            <a:endParaRPr lang="en-US" sz="1300" dirty="0"/>
          </a:p>
        </p:txBody>
      </p:sp>
      <p:sp>
        <p:nvSpPr>
          <p:cNvPr id="10" name="p7c2"/>
          <p:cNvSpPr/>
          <p:nvPr/>
        </p:nvSpPr>
        <p:spPr>
          <a:xfrm>
            <a:off x="8183880" y="1874520"/>
            <a:ext cx="3520440" cy="2240280"/>
          </a:xfrm>
          <a:prstGeom prst="roundRect">
            <a:avLst>
              <a:gd name="adj" fmla="val 3673"/>
            </a:avLst>
          </a:prstGeom>
          <a:solidFill>
            <a:schemeClr val="bg2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03920" y="21031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3315C"/>
                </a:solidFill>
              </a:rPr>
              <a:t>15 Hz</a:t>
            </a:r>
            <a:endParaRPr lang="en-US" sz="5200" dirty="0"/>
          </a:p>
        </p:txBody>
      </p:sp>
      <p:sp>
        <p:nvSpPr>
          <p:cNvPr id="12" name="Text 10"/>
          <p:cNvSpPr txBox="1"/>
          <p:nvPr/>
        </p:nvSpPr>
        <p:spPr>
          <a:xfrm>
            <a:off x="8503920" y="303580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B78"/>
                </a:solidFill>
              </a:rPr>
              <a:t>端側 MediaPipe 姿態模型的判讀頻率，不需連網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44348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15C"/>
                </a:solidFill>
              </a:rPr>
              <a:t>這一層做對了，後面每一次模型推論才不會浪費在雜訊上。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技術實證三：手機真的扛得住 240 fps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8FB8CA"/>
                </a:solidFill>
              </a:rPr>
              <a:t>高速攝影、無損取幀與 GPU 裁切，都已在實機上跑出來</a:t>
            </a:r>
            <a:endParaRPr lang="en-US" sz="1400" dirty="0"/>
          </a:p>
        </p:txBody>
      </p:sp>
      <p:sp>
        <p:nvSpPr>
          <p:cNvPr id="4" name="p8c0"/>
          <p:cNvSpPr/>
          <p:nvPr/>
        </p:nvSpPr>
        <p:spPr>
          <a:xfrm>
            <a:off x="502920" y="187452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6B35"/>
                </a:solidFill>
              </a:rPr>
              <a:t>13,074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1752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3EE"/>
                </a:solidFill>
              </a:rPr>
              <a:t>一次連續錄影的影格數，其中僅 2 格未進入分析管線</a:t>
            </a:r>
            <a:endParaRPr lang="en-US" sz="1300" dirty="0"/>
          </a:p>
        </p:txBody>
      </p:sp>
      <p:sp>
        <p:nvSpPr>
          <p:cNvPr id="7" name="p8c1"/>
          <p:cNvSpPr/>
          <p:nvPr/>
        </p:nvSpPr>
        <p:spPr>
          <a:xfrm>
            <a:off x="4343400" y="187452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21031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6B35"/>
                </a:solidFill>
              </a:rPr>
              <a:t>30 版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301752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3EE"/>
                </a:solidFill>
              </a:rPr>
              <a:t>自 0.1 到 0.7.8 的迭代次數，每一版都記錄實測結果與失敗原因</a:t>
            </a:r>
            <a:endParaRPr lang="en-US" sz="1300" dirty="0"/>
          </a:p>
        </p:txBody>
      </p:sp>
      <p:sp>
        <p:nvSpPr>
          <p:cNvPr id="10" name="p8c2"/>
          <p:cNvSpPr/>
          <p:nvPr/>
        </p:nvSpPr>
        <p:spPr>
          <a:xfrm>
            <a:off x="8183880" y="187452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03920" y="21031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6B35"/>
                </a:solidFill>
              </a:rPr>
              <a:t>0.1 rev/s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8503920" y="301752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3EE"/>
                </a:solidFill>
              </a:rPr>
              <a:t>手機端與電腦端對同一段影片的讀數差距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45720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B8CA"/>
                </a:solidFill>
              </a:rPr>
              <a:t>這些是工程能力的證據，不是規劃。程式碼全部公開：github.com/HankYu11/Monti-Ping-Pong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B8C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現在卡在兩個地方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5A6B78"/>
                </a:solidFill>
              </a:rPr>
              <a:t>這兩道缺口，正好分別對應算力平台的 YOLO 與 TAIDE</a:t>
            </a:r>
            <a:endParaRPr lang="en-US" sz="1400" dirty="0"/>
          </a:p>
        </p:txBody>
      </p:sp>
      <p:sp>
        <p:nvSpPr>
          <p:cNvPr id="4" name="gap1"/>
          <p:cNvSpPr/>
          <p:nvPr/>
        </p:nvSpPr>
        <p:spPr>
          <a:xfrm>
            <a:off x="502920" y="1874520"/>
            <a:ext cx="5486400" cy="3200400"/>
          </a:xfrm>
          <a:prstGeom prst="roundRect">
            <a:avLst>
              <a:gd name="adj" fmla="val 2571"/>
            </a:avLst>
          </a:prstGeom>
          <a:solidFill>
            <a:schemeClr val="bg2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5" name="ball6"/>
          <p:cNvSpPr/>
          <p:nvPr/>
        </p:nvSpPr>
        <p:spPr>
          <a:xfrm>
            <a:off x="868680" y="2148840"/>
            <a:ext cx="384048" cy="38404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17320" y="215798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5C"/>
                </a:solidFill>
              </a:rPr>
              <a:t>缺口一：必須用特製的球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4320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C3E4A"/>
                </a:solidFill>
              </a:rPr>
              <a:t>球上要手工塗黑半球、畫一條線與一個點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C3E4A"/>
                </a:solidFill>
              </a:rPr>
              <a:t>一般使用者不可能這樣做，無法商品化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C3E4A"/>
                </a:solidFill>
              </a:rPr>
              <a:t>硬編規則在真實球館會失效：藍桌迎面球追不到、球與球拍團塊合併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C3E4A"/>
                </a:solidFill>
              </a:rPr>
              <a:t>看不見球拍與球網，無法判定發球合法性</a:t>
            </a:r>
            <a:endParaRPr lang="en-US" sz="1400" dirty="0"/>
          </a:p>
        </p:txBody>
      </p:sp>
      <p:sp>
        <p:nvSpPr>
          <p:cNvPr id="8" name="gap2"/>
          <p:cNvSpPr/>
          <p:nvPr/>
        </p:nvSpPr>
        <p:spPr>
          <a:xfrm>
            <a:off x="6355080" y="1874520"/>
            <a:ext cx="5303520" cy="3200400"/>
          </a:xfrm>
          <a:prstGeom prst="roundRect">
            <a:avLst>
              <a:gd name="adj" fmla="val 2571"/>
            </a:avLst>
          </a:prstGeom>
          <a:solidFill>
            <a:schemeClr val="bg2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9" name="ball7"/>
          <p:cNvSpPr/>
          <p:nvPr/>
        </p:nvSpPr>
        <p:spPr>
          <a:xfrm>
            <a:off x="6720840" y="214884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69480" y="215798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5C"/>
                </a:solidFill>
              </a:rPr>
              <a:t>缺口二：講不出人話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274320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C3E4A"/>
                </a:solidFill>
              </a:rPr>
              <a:t>目前回饋只有四種固定的英文分類句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C3E4A"/>
                </a:solidFill>
              </a:rPr>
              <a:t>沒有中文、沒有個人化、沒有下一步該練什麼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C3E4A"/>
                </a:solidFill>
              </a:rPr>
              <a:t>國中生聽不懂教科書語言，也不會照做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C3E4A"/>
                </a:solidFill>
              </a:rPr>
              <a:t>原規劃使用國外 API，資料須出境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補上這兩塊之後的系統架構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8FB8CA"/>
                </a:solidFill>
              </a:rPr>
              <a:t>手機負責看見與量測，算力平台負責辨識與表達</a:t>
            </a:r>
            <a:endParaRPr lang="en-US" sz="1400" dirty="0"/>
          </a:p>
        </p:txBody>
      </p:sp>
      <p:sp>
        <p:nvSpPr>
          <p:cNvPr id="4" name="step0"/>
          <p:cNvSpPr/>
          <p:nvPr/>
        </p:nvSpPr>
        <p:spPr>
          <a:xfrm>
            <a:off x="502920" y="1965960"/>
            <a:ext cx="2514600" cy="2697480"/>
          </a:xfrm>
          <a:prstGeom prst="roundRect">
            <a:avLst>
              <a:gd name="adj" fmla="val 3273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tepnum0"/>
          <p:cNvSpPr/>
          <p:nvPr/>
        </p:nvSpPr>
        <p:spPr>
          <a:xfrm>
            <a:off x="758952" y="2212848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224942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2816352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手機高速攝影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273552"/>
            <a:ext cx="2002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3EE"/>
                </a:solidFill>
              </a:rPr>
              <a:t>240 fps 錄影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3EE"/>
                </a:solidFill>
              </a:rPr>
              <a:t>自動抓出每一次發球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035808" y="306324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6B35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tep1"/>
          <p:cNvSpPr/>
          <p:nvPr/>
        </p:nvSpPr>
        <p:spPr>
          <a:xfrm>
            <a:off x="3401568" y="1965960"/>
            <a:ext cx="2514600" cy="2697480"/>
          </a:xfrm>
          <a:prstGeom prst="roundRect">
            <a:avLst>
              <a:gd name="adj" fmla="val 3273"/>
            </a:avLst>
          </a:prstGeom>
          <a:solidFill>
            <a:srgbClr val="13315C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stepnum1"/>
          <p:cNvSpPr/>
          <p:nvPr/>
        </p:nvSpPr>
        <p:spPr>
          <a:xfrm>
            <a:off x="3657600" y="2212848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7600" y="224942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816352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平台 YOLO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273552"/>
            <a:ext cx="2002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3EE"/>
                </a:solidFill>
              </a:rPr>
              <a:t>球、球拍、球網、球桌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3EE"/>
                </a:solidFill>
              </a:rPr>
              <a:t>與觸球影格偵測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934456" y="306324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6B35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tep2"/>
          <p:cNvSpPr/>
          <p:nvPr/>
        </p:nvSpPr>
        <p:spPr>
          <a:xfrm>
            <a:off x="6300216" y="1965960"/>
            <a:ext cx="2514600" cy="2697480"/>
          </a:xfrm>
          <a:prstGeom prst="roundRect">
            <a:avLst>
              <a:gd name="adj" fmla="val 3273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stepnum2"/>
          <p:cNvSpPr/>
          <p:nvPr/>
        </p:nvSpPr>
        <p:spPr>
          <a:xfrm>
            <a:off x="6556248" y="2212848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56248" y="224942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556248" y="2816352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物理量測引擎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556248" y="3273552"/>
            <a:ext cx="2002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3EE"/>
                </a:solidFill>
              </a:rPr>
              <a:t>旋轉速率與旋轉軸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3EE"/>
                </a:solidFill>
              </a:rPr>
              <a:t>旋速比、摩擦利用率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833104" y="306324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6B35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tep3"/>
          <p:cNvSpPr/>
          <p:nvPr/>
        </p:nvSpPr>
        <p:spPr>
          <a:xfrm>
            <a:off x="9198864" y="1965960"/>
            <a:ext cx="2514600" cy="2697480"/>
          </a:xfrm>
          <a:prstGeom prst="roundRect">
            <a:avLst>
              <a:gd name="adj" fmla="val 3273"/>
            </a:avLst>
          </a:prstGeom>
          <a:solidFill>
            <a:srgbClr val="13315C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stepnum3"/>
          <p:cNvSpPr/>
          <p:nvPr/>
        </p:nvSpPr>
        <p:spPr>
          <a:xfrm>
            <a:off x="9454896" y="2212848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54896" y="224942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454896" y="2816352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平台 TAIDE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454896" y="3273552"/>
            <a:ext cx="2002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3EE"/>
                </a:solidFill>
              </a:rPr>
              <a:t>轉成一句繁體中文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3EE"/>
                </a:solidFill>
              </a:rPr>
              <a:t>教練提示與練習處方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49834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FB8CA"/>
                </a:solidFill>
              </a:rPr>
              <a:t>每球只在撿球的 2～3 秒空檔送出約 30 張影格——突發、小批量、事後，正是推論 API 的理想負載。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B8C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為什麼是 YOLO 與 TAIDE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5A6B78"/>
                </a:solidFill>
              </a:rPr>
              <a:t>兩個選擇都是功能上的必要，不是包裝</a:t>
            </a:r>
            <a:endParaRPr lang="en-US" sz="1400" dirty="0"/>
          </a:p>
        </p:txBody>
      </p:sp>
      <p:sp>
        <p:nvSpPr>
          <p:cNvPr id="4" name="m1"/>
          <p:cNvSpPr/>
          <p:nvPr/>
        </p:nvSpPr>
        <p:spPr>
          <a:xfrm>
            <a:off x="502920" y="1874520"/>
            <a:ext cx="5486400" cy="3246120"/>
          </a:xfrm>
          <a:prstGeom prst="roundRect">
            <a:avLst>
              <a:gd name="adj" fmla="val 2535"/>
            </a:avLst>
          </a:prstGeom>
          <a:solidFill>
            <a:schemeClr val="bg2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031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</a:rPr>
              <a:t>YOLO（影像模型）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5176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C3E4A"/>
                </a:solidFill>
              </a:rPr>
              <a:t>取代手工規則，讓一般白球在雜亂球館背景中也能被認出——免標記球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C3E4A"/>
                </a:solidFill>
              </a:rPr>
              <a:t>同時給出球拍、球網、球桌與人體框，才能判定拋球高度與過網高度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C3E4A"/>
                </a:solidFill>
              </a:rPr>
              <a:t>手機無法以 240 fps 跑大型偵測器，但本案只需每球約 30 張影格的事後推論</a:t>
            </a:r>
            <a:endParaRPr lang="en-US" sz="1400" dirty="0"/>
          </a:p>
        </p:txBody>
      </p:sp>
      <p:sp>
        <p:nvSpPr>
          <p:cNvPr id="7" name="m2"/>
          <p:cNvSpPr/>
          <p:nvPr/>
        </p:nvSpPr>
        <p:spPr>
          <a:xfrm>
            <a:off x="6355080" y="1874520"/>
            <a:ext cx="5303520" cy="3246120"/>
          </a:xfrm>
          <a:prstGeom prst="roundRect">
            <a:avLst>
              <a:gd name="adj" fmla="val 2535"/>
            </a:avLst>
          </a:prstGeom>
          <a:solidFill>
            <a:schemeClr val="bg2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20840" y="2103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TAIDE / FFM（大語言模型）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720840" y="265176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C3E4A"/>
                </a:solidFill>
              </a:rPr>
              <a:t>教學語言就是功能本體：要講「摩擦薄一點」「拍面再立一點」，不是翻譯腔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C3E4A"/>
                </a:solidFill>
              </a:rPr>
              <a:t>使用者多為未成年學生，影像與姿態資料不應出境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C3E4A"/>
                </a:solidFill>
              </a:rPr>
              <a:t>每球呼叫一次，國內推論成本是月費定價能成立的前提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2852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8"/>
                </a:solidFill>
              </a:rPr>
              <a:t>本案不使用任何源自中國或中資之開源模型與介接工具。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三個使用情境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5A6B78"/>
                </a:solidFill>
              </a:rPr>
              <a:t>手機側放在球桌邊、與桌面同高，讓球橫越畫面即可開始</a:t>
            </a:r>
            <a:endParaRPr lang="en-US" sz="1400" dirty="0"/>
          </a:p>
        </p:txBody>
      </p:sp>
      <p:sp>
        <p:nvSpPr>
          <p:cNvPr id="4" name="sc0"/>
          <p:cNvSpPr/>
          <p:nvPr/>
        </p:nvSpPr>
        <p:spPr>
          <a:xfrm>
            <a:off x="502920" y="1874520"/>
            <a:ext cx="3520440" cy="3063240"/>
          </a:xfrm>
          <a:prstGeom prst="roundRect">
            <a:avLst>
              <a:gd name="adj" fmla="val 2687"/>
            </a:avLst>
          </a:prstGeom>
          <a:solidFill>
            <a:schemeClr val="bg2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5" name="ball8"/>
          <p:cNvSpPr/>
          <p:nvPr/>
        </p:nvSpPr>
        <p:spPr>
          <a:xfrm>
            <a:off x="822960" y="2121408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6060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315C"/>
                </a:solidFill>
              </a:rPr>
              <a:t>校隊團練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90672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C3E4A"/>
                </a:solidFill>
              </a:rPr>
              <a:t>放學後的體育館，一位教練、24 名隊員、6 張球桌。每桌架一支手機，學員戴單耳耳機自主練習，每球聽到一句提示；下課時教練看到全隊弱項分布。</a:t>
            </a:r>
            <a:endParaRPr lang="en-US" sz="1300" dirty="0"/>
          </a:p>
        </p:txBody>
      </p:sp>
      <p:sp>
        <p:nvSpPr>
          <p:cNvPr id="8" name="sc1"/>
          <p:cNvSpPr/>
          <p:nvPr/>
        </p:nvSpPr>
        <p:spPr>
          <a:xfrm>
            <a:off x="4343400" y="1874520"/>
            <a:ext cx="3520440" cy="3063240"/>
          </a:xfrm>
          <a:prstGeom prst="roundRect">
            <a:avLst>
              <a:gd name="adj" fmla="val 2687"/>
            </a:avLst>
          </a:prstGeom>
          <a:solidFill>
            <a:schemeClr val="bg2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9" name="ball9"/>
          <p:cNvSpPr/>
          <p:nvPr/>
        </p:nvSpPr>
        <p:spPr>
          <a:xfrm>
            <a:off x="4663440" y="2121408"/>
            <a:ext cx="347472" cy="34747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26060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315C"/>
                </a:solidFill>
              </a:rPr>
              <a:t>球館自主練習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090672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C3E4A"/>
                </a:solidFill>
              </a:rPr>
              <a:t>球館設置 AI 發球練習台，使用者掃碼開始。這是主要的付費場景。</a:t>
            </a:r>
            <a:endParaRPr lang="en-US" sz="1300" dirty="0"/>
          </a:p>
        </p:txBody>
      </p:sp>
      <p:sp>
        <p:nvSpPr>
          <p:cNvPr id="12" name="sc2"/>
          <p:cNvSpPr/>
          <p:nvPr/>
        </p:nvSpPr>
        <p:spPr>
          <a:xfrm>
            <a:off x="8183880" y="1874520"/>
            <a:ext cx="3520440" cy="3063240"/>
          </a:xfrm>
          <a:prstGeom prst="roundRect">
            <a:avLst>
              <a:gd name="adj" fmla="val 2687"/>
            </a:avLst>
          </a:prstGeom>
          <a:solidFill>
            <a:schemeClr val="bg2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3" name="ball10"/>
          <p:cNvSpPr/>
          <p:nvPr/>
        </p:nvSpPr>
        <p:spPr>
          <a:xfrm>
            <a:off x="8503920" y="2121408"/>
            <a:ext cx="347472" cy="347472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03920" y="26060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315C"/>
                </a:solidFill>
              </a:rPr>
              <a:t>個人在家練習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3090672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C3E4A"/>
                </a:solidFill>
              </a:rPr>
              <a:t>純手機方案，不需任何額外器材——這正是需要平台 YOLO 取消標記球需求的原因。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目標客戶與計價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5A6B78"/>
                </a:solidFill>
              </a:rPr>
              <a:t>首要切入點是社區球館：決策者單一、付費能力明確，且本身就是使用者的集散地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1115568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3017520"/>
                <a:gridCol w="2148840"/>
                <a:gridCol w="42062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方案</a:t>
                      </a:r>
                      <a:endParaRPr lang="en-US" sz="125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對象</a:t>
                      </a:r>
                      <a:endParaRPr lang="en-US" sz="125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計價單位</a:t>
                      </a:r>
                      <a:endParaRPr lang="en-US" sz="125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價格</a:t>
                      </a:r>
                      <a:endParaRPr lang="en-US" sz="125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4A"/>
                          </a:solidFill>
                        </a:rPr>
                        <a:t>免費版</a:t>
                      </a:r>
                      <a:endParaRPr lang="en-US" sz="125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4A"/>
                          </a:solidFill>
                        </a:rPr>
                        <a:t>一般使用者</a:t>
                      </a:r>
                      <a:endParaRPr lang="en-US" sz="125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4A"/>
                          </a:solidFill>
                        </a:rPr>
                        <a:t>每位使用者</a:t>
                      </a:r>
                      <a:endParaRPr lang="en-US" sz="125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4A"/>
                          </a:solidFill>
                        </a:rPr>
                        <a:t>NT$0（基本量測、每日 10 球 AI 提示）</a:t>
                      </a:r>
                      <a:endParaRPr lang="en-US" sz="125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4A"/>
                          </a:solidFill>
                        </a:rPr>
                        <a:t>個人訂閱</a:t>
                      </a:r>
                      <a:endParaRPr lang="en-US" sz="125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4A"/>
                          </a:solidFill>
                        </a:rPr>
                        <a:t>自主練習者、學生家長</a:t>
                      </a:r>
                      <a:endParaRPr lang="en-US" sz="125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4A"/>
                          </a:solidFill>
                        </a:rPr>
                        <a:t>每位使用者／月</a:t>
                      </a:r>
                      <a:endParaRPr lang="en-US" sz="125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4A"/>
                          </a:solidFill>
                        </a:rPr>
                        <a:t>NT$149／月（年繳 NT$1,490）</a:t>
                      </a:r>
                      <a:endParaRPr lang="en-US" sz="125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4A"/>
                          </a:solidFill>
                        </a:rPr>
                        <a:t>個人進階</a:t>
                      </a:r>
                      <a:endParaRPr lang="en-US" sz="125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4A"/>
                          </a:solidFill>
                        </a:rPr>
                        <a:t>進階學習者</a:t>
                      </a:r>
                      <a:endParaRPr lang="en-US" sz="125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4A"/>
                          </a:solidFill>
                        </a:rPr>
                        <a:t>每位使用者／月</a:t>
                      </a:r>
                      <a:endParaRPr lang="en-US" sz="125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4A"/>
                          </a:solidFill>
                        </a:rPr>
                        <a:t>NT$299／月（含進步報告、無限球數）</a:t>
                      </a:r>
                      <a:endParaRPr lang="en-US" sz="125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C3E4A"/>
                          </a:solidFill>
                        </a:rPr>
                        <a:t>球館授權</a:t>
                      </a:r>
                      <a:endParaRPr lang="en-US" sz="125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C3E4A"/>
                          </a:solidFill>
                        </a:rPr>
                        <a:t>球館、教練工作室</a:t>
                      </a:r>
                      <a:endParaRPr lang="en-US" sz="125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C3E4A"/>
                          </a:solidFill>
                        </a:rPr>
                        <a:t>每館／月</a:t>
                      </a:r>
                      <a:endParaRPr lang="en-US" sz="125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C3E4A"/>
                          </a:solidFill>
                        </a:rPr>
                        <a:t>NT$2,000～6,000／月（依球桌數）</a:t>
                      </a:r>
                      <a:endParaRPr lang="en-US" sz="125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4A"/>
                          </a:solidFill>
                        </a:rPr>
                        <a:t>學校公益方案</a:t>
                      </a:r>
                      <a:endParaRPr lang="en-US" sz="125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4A"/>
                          </a:solidFill>
                        </a:rPr>
                        <a:t>公立國中小校隊、偏鄉學校</a:t>
                      </a:r>
                      <a:endParaRPr lang="en-US" sz="125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4A"/>
                          </a:solidFill>
                        </a:rPr>
                        <a:t>每校</a:t>
                      </a:r>
                      <a:endParaRPr lang="en-US" sz="125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4A"/>
                          </a:solidFill>
                        </a:rPr>
                        <a:t>NT$0（公益承諾）</a:t>
                      </a:r>
                      <a:endParaRPr lang="en-US" sz="125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4A"/>
                          </a:solidFill>
                        </a:rPr>
                        <a:t>資料／技術授權</a:t>
                      </a:r>
                      <a:endParaRPr lang="en-US" sz="125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4A"/>
                          </a:solidFill>
                        </a:rPr>
                        <a:t>體育科系、研究單位</a:t>
                      </a:r>
                      <a:endParaRPr lang="en-US" sz="125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4A"/>
                          </a:solidFill>
                        </a:rPr>
                        <a:t>每案</a:t>
                      </a:r>
                      <a:endParaRPr lang="en-US" sz="125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E4A"/>
                          </a:solidFill>
                        </a:rPr>
                        <a:t>專案報價</a:t>
                      </a:r>
                      <a:endParaRPr lang="en-US" sz="125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53492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15C"/>
                </a:solidFill>
              </a:rPr>
              <a:t>成本端的關鍵是每球的推論成本——這也正是選用國產模型的商業理由。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三個月要做完的事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5A6B78"/>
                </a:solidFill>
              </a:rPr>
              <a:t>核心演算法與 Android 管線已完成，本案工作集中在串接推論服務</a:t>
            </a:r>
            <a:endParaRPr lang="en-US" sz="1400" dirty="0"/>
          </a:p>
        </p:txBody>
      </p:sp>
      <p:sp>
        <p:nvSpPr>
          <p:cNvPr id="4" name="ph0"/>
          <p:cNvSpPr/>
          <p:nvPr/>
        </p:nvSpPr>
        <p:spPr>
          <a:xfrm>
            <a:off x="502920" y="1874520"/>
            <a:ext cx="1874520" cy="804672"/>
          </a:xfrm>
          <a:prstGeom prst="roundRect">
            <a:avLst>
              <a:gd name="adj" fmla="val 9091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84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已完成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134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1F6"/>
                </a:solidFill>
              </a:rPr>
              <a:t>115/10 前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697480" y="1929384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C3E4A"/>
                </a:solidFill>
              </a:rPr>
              <a:t>旋轉量測演算法、240 fps 高速攝影管線、發球自動偵測、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C3E4A"/>
                </a:solidFill>
              </a:rPr>
              <a:t>GPU 影格裁切、規則式診斷、可安裝的 Android 測試版 v0.7.8</a:t>
            </a:r>
            <a:endParaRPr lang="en-US" sz="1350" dirty="0"/>
          </a:p>
        </p:txBody>
      </p:sp>
      <p:sp>
        <p:nvSpPr>
          <p:cNvPr id="8" name="ph1"/>
          <p:cNvSpPr/>
          <p:nvPr/>
        </p:nvSpPr>
        <p:spPr>
          <a:xfrm>
            <a:off x="502920" y="2807208"/>
            <a:ext cx="1874520" cy="804672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91693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第 1 個月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2461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1F6"/>
                </a:solidFill>
              </a:rPr>
              <a:t>核定後 M1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2862072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C3E4A"/>
                </a:solidFill>
              </a:rPr>
              <a:t>串接平台 YOLO 取代標記球偵測；標註驗證集擴充至 300 球；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C3E4A"/>
                </a:solidFill>
              </a:rPr>
              <a:t>串接 TAIDE 並完成 Prompt 回歸評測與三模型 A/B 比較</a:t>
            </a:r>
            <a:endParaRPr lang="en-US" sz="1350" dirty="0"/>
          </a:p>
        </p:txBody>
      </p:sp>
      <p:sp>
        <p:nvSpPr>
          <p:cNvPr id="12" name="ph2"/>
          <p:cNvSpPr/>
          <p:nvPr/>
        </p:nvSpPr>
        <p:spPr>
          <a:xfrm>
            <a:off x="502920" y="3739896"/>
            <a:ext cx="1874520" cy="804672"/>
          </a:xfrm>
          <a:prstGeom prst="roundRect">
            <a:avLst>
              <a:gd name="adj" fmla="val 9091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84962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第 2 個月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1788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1F6"/>
                </a:solidFill>
              </a:rPr>
              <a:t>核定後 M2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79476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C3E4A"/>
                </a:solidFill>
              </a:rPr>
              <a:t>2 處場域實地試用；發球合法性與落點判定；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C3E4A"/>
                </a:solidFill>
              </a:rPr>
              <a:t>教練／學員網頁報告</a:t>
            </a:r>
            <a:endParaRPr lang="en-US" sz="1350" dirty="0"/>
          </a:p>
        </p:txBody>
      </p:sp>
      <p:sp>
        <p:nvSpPr>
          <p:cNvPr id="16" name="ph3"/>
          <p:cNvSpPr/>
          <p:nvPr/>
        </p:nvSpPr>
        <p:spPr>
          <a:xfrm>
            <a:off x="502920" y="4672584"/>
            <a:ext cx="1874520" cy="804672"/>
          </a:xfrm>
          <a:prstGeom prst="roundRect">
            <a:avLst>
              <a:gd name="adj" fmla="val 9091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7823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第 3 個月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11149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1F6"/>
                </a:solidFill>
              </a:rPr>
              <a:t>核定後 M3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727448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C3E4A"/>
                </a:solidFill>
              </a:rPr>
              <a:t>擴大試用與調校；資料集與程式碼開源；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C3E4A"/>
                </a:solidFill>
              </a:rPr>
              <a:t>結案報告、成果簡報與 demo 影片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57150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8"/>
                </a:solidFill>
              </a:rPr>
              <a:t>本公司目前為負責人一人之團隊，上列工作係依單人可交付之範圍規劃。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我們要的，是讓它真的能用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02920" y="1207008"/>
            <a:ext cx="1115568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8FB8CA"/>
                </a:solidFill>
              </a:rPr>
              <a:t>不是從零開始做一個 AI 專案，而是把已經驗證過的系統推進到可商品化</a:t>
            </a:r>
            <a:endParaRPr lang="en-US" sz="1400" dirty="0"/>
          </a:p>
        </p:txBody>
      </p:sp>
      <p:sp>
        <p:nvSpPr>
          <p:cNvPr id="4" name="end0"/>
          <p:cNvSpPr/>
          <p:nvPr/>
        </p:nvSpPr>
        <p:spPr>
          <a:xfrm>
            <a:off x="502920" y="196596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ball11"/>
          <p:cNvSpPr/>
          <p:nvPr/>
        </p:nvSpPr>
        <p:spPr>
          <a:xfrm>
            <a:off x="822960" y="2212848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67004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已經證明的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90672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FE3EE"/>
                </a:solidFill>
              </a:rPr>
              <a:t>量測準確度、發球偵測、240 fps 管線，都有實測數據與公開程式碼</a:t>
            </a:r>
            <a:endParaRPr lang="en-US" sz="1300" dirty="0"/>
          </a:p>
        </p:txBody>
      </p:sp>
      <p:sp>
        <p:nvSpPr>
          <p:cNvPr id="8" name="end1"/>
          <p:cNvSpPr/>
          <p:nvPr/>
        </p:nvSpPr>
        <p:spPr>
          <a:xfrm>
            <a:off x="4343400" y="196596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ball12"/>
          <p:cNvSpPr/>
          <p:nvPr/>
        </p:nvSpPr>
        <p:spPr>
          <a:xfrm>
            <a:off x="4663440" y="2212848"/>
            <a:ext cx="310896" cy="31089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267004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本案要補上的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090672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FE3EE"/>
                </a:solidFill>
              </a:rPr>
              <a:t>免標記球的影像偵測，以及講得出台灣話的中文教練</a:t>
            </a:r>
            <a:endParaRPr lang="en-US" sz="1300" dirty="0"/>
          </a:p>
        </p:txBody>
      </p:sp>
      <p:sp>
        <p:nvSpPr>
          <p:cNvPr id="12" name="end2"/>
          <p:cNvSpPr/>
          <p:nvPr/>
        </p:nvSpPr>
        <p:spPr>
          <a:xfrm>
            <a:off x="8183880" y="196596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ball13"/>
          <p:cNvSpPr/>
          <p:nvPr/>
        </p:nvSpPr>
        <p:spPr>
          <a:xfrm>
            <a:off x="8503920" y="2212848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03920" y="267004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三個月後交付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3090672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FE3EE"/>
                </a:solidFill>
              </a:rPr>
              <a:t>Android App v1.0、教練／學員網頁報告、開源資料集與串接範例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800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奇斯科技有限公司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52578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8CA"/>
                </a:solidFill>
              </a:rPr>
              <a:t>統一編號 62071057　｜　臺北市萬華區開封街 2 段 39 號 1 樓　｜　hank@handyla.co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56235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35"/>
                </a:solidFill>
              </a:rPr>
              <a:t>github.com/HankYu11/Monti-Ping-Pong</a:t>
            </a:r>
            <a:endParaRPr lang="en-US" sz="1300" dirty="0"/>
          </a:p>
        </p:txBody>
      </p:sp>
      <p:sp>
        <p:nvSpPr>
          <p:cNvPr id="19" name="ball14"/>
          <p:cNvSpPr/>
          <p:nvPr/>
        </p:nvSpPr>
        <p:spPr>
          <a:xfrm>
            <a:off x="10881360" y="5486400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B8C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ntiServeCoach">
  <a:themeElements>
    <a:clrScheme name="MontiServeCoach">
      <a:dk1>
        <a:srgbClr val="0B2545"/>
      </a:dk1>
      <a:lt1>
        <a:srgbClr val="FFFFFF"/>
      </a:lt1>
      <a:dk2>
        <a:srgbClr val="13315C"/>
      </a:dk2>
      <a:lt2>
        <a:srgbClr val="F2F5F7"/>
      </a:lt2>
      <a:accent1>
        <a:srgbClr val="1C7293"/>
      </a:accent1>
      <a:accent2>
        <a:srgbClr val="FF6B35"/>
      </a:accent2>
      <a:accent3>
        <a:srgbClr val="2A9D8F"/>
      </a:accent3>
      <a:accent4>
        <a:srgbClr val="8FB8CA"/>
      </a:accent4>
      <a:accent5>
        <a:srgbClr val="134E6F"/>
      </a:accent5>
      <a:accent6>
        <a:srgbClr val="E8C547"/>
      </a:accent6>
      <a:hlink>
        <a:srgbClr val="1C7293"/>
      </a:hlink>
      <a:folHlink>
        <a:srgbClr val="8FB8CA"/>
      </a:folHlink>
    </a:clrScheme>
    <a:fontScheme name="MontiServeCoach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Monti 發球教練 產品化介紹</dc:title>
  <dc:subject>PptxGenJS Presentation</dc:subject>
  <dc:creator>奇斯科技有限公司</dc:creator>
  <cp:lastModifiedBy>奇斯科技有限公司</cp:lastModifiedBy>
  <cp:revision>1</cp:revision>
  <dcterms:created xsi:type="dcterms:W3CDTF">2026-10-29T11:49:15Z</dcterms:created>
  <dcterms:modified xsi:type="dcterms:W3CDTF">2026-10-29T11:49:15Z</dcterms:modified>
</cp:coreProperties>
</file>